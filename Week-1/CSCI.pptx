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Mon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Mono-bold.fntdata"/><Relationship Id="rId12" Type="http://schemas.openxmlformats.org/officeDocument/2006/relationships/font" Target="fonts/RobotoMon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Mono-boldItalic.fntdata"/><Relationship Id="rId14"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9d34535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9d34535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9d345358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9d345358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59d345358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59d345358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59d345358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59d345358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59d345358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59d345358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rPr>
              <a:t>calculator</a:t>
            </a:r>
            <a:endParaRPr>
              <a:solidFill>
                <a:schemeClr val="lt1"/>
              </a:solidFill>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Aiden white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a:t>
            </a:r>
            <a:endParaRPr/>
          </a:p>
        </p:txBody>
      </p:sp>
      <p:sp>
        <p:nvSpPr>
          <p:cNvPr id="61" name="Google Shape;61;p14"/>
          <p:cNvSpPr txBox="1"/>
          <p:nvPr>
            <p:ph idx="1" type="body"/>
          </p:nvPr>
        </p:nvSpPr>
        <p:spPr>
          <a:xfrm>
            <a:off x="311700" y="10762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Python calculator for +, −, ×, ÷</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Includes Undo feature and error handling</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Uses functions, lists, and control structures</a:t>
            </a:r>
            <a:endParaRPr sz="11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 sz="1100">
                <a:solidFill>
                  <a:schemeClr val="dk1"/>
                </a:solidFill>
              </a:rPr>
              <a:t>This line creates a list called </a:t>
            </a:r>
            <a:r>
              <a:rPr lang="en" sz="1100">
                <a:solidFill>
                  <a:schemeClr val="dk1"/>
                </a:solidFill>
                <a:latin typeface="Roboto Mono"/>
                <a:ea typeface="Roboto Mono"/>
                <a:cs typeface="Roboto Mono"/>
                <a:sym typeface="Roboto Mono"/>
              </a:rPr>
              <a:t>history</a:t>
            </a:r>
            <a:r>
              <a:rPr lang="en" sz="1100">
                <a:solidFill>
                  <a:schemeClr val="dk1"/>
                </a:solidFill>
              </a:rPr>
              <a:t>, which stores all the results of previous calculations and </a:t>
            </a:r>
            <a:r>
              <a:rPr lang="en" sz="1100">
                <a:solidFill>
                  <a:schemeClr val="dk1"/>
                </a:solidFill>
              </a:rPr>
              <a:t>allows</a:t>
            </a:r>
            <a:r>
              <a:rPr lang="en" sz="1100">
                <a:solidFill>
                  <a:schemeClr val="dk1"/>
                </a:solidFill>
              </a:rPr>
              <a:t> the Undo feature to remove the last result. </a:t>
            </a:r>
            <a:endParaRPr>
              <a:solidFill>
                <a:schemeClr val="dk1"/>
              </a:solidFill>
            </a:endParaRPr>
          </a:p>
        </p:txBody>
      </p:sp>
      <p:pic>
        <p:nvPicPr>
          <p:cNvPr id="62" name="Google Shape;62;p14" title="Screenshot 2025-05-12 at 11.52.22 AM.png"/>
          <p:cNvPicPr preferRelativeResize="0"/>
          <p:nvPr/>
        </p:nvPicPr>
        <p:blipFill>
          <a:blip r:embed="rId3">
            <a:alphaModFix/>
          </a:blip>
          <a:stretch>
            <a:fillRect/>
          </a:stretch>
        </p:blipFill>
        <p:spPr>
          <a:xfrm>
            <a:off x="335600" y="2189973"/>
            <a:ext cx="5283226" cy="546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is it Useful?</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Real-world Python example</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Practices functions lists, if/else, loop</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Simple, interactive expandable</a:t>
            </a:r>
            <a:endParaRPr sz="1100">
              <a:solidFill>
                <a:schemeClr val="dk1"/>
              </a:solidFill>
            </a:endParaRPr>
          </a:p>
          <a:p>
            <a:pPr indent="0" lvl="0" marL="457200" rtl="0" algn="l">
              <a:spcBef>
                <a:spcPts val="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rPr lang="en"/>
              <a:t>								</a:t>
            </a:r>
            <a:endParaRPr/>
          </a:p>
        </p:txBody>
      </p:sp>
      <p:pic>
        <p:nvPicPr>
          <p:cNvPr id="69" name="Google Shape;69;p15" title="Screenshot 2025-05-12 at 12.01.19 PM.png"/>
          <p:cNvPicPr preferRelativeResize="0"/>
          <p:nvPr/>
        </p:nvPicPr>
        <p:blipFill>
          <a:blip r:embed="rId3">
            <a:alphaModFix/>
          </a:blip>
          <a:stretch>
            <a:fillRect/>
          </a:stretch>
        </p:blipFill>
        <p:spPr>
          <a:xfrm>
            <a:off x="311700" y="2444300"/>
            <a:ext cx="4400550" cy="2057400"/>
          </a:xfrm>
          <a:prstGeom prst="rect">
            <a:avLst/>
          </a:prstGeom>
          <a:noFill/>
          <a:ln>
            <a:noFill/>
          </a:ln>
        </p:spPr>
      </p:pic>
      <p:sp>
        <p:nvSpPr>
          <p:cNvPr id="70" name="Google Shape;70;p15"/>
          <p:cNvSpPr txBox="1"/>
          <p:nvPr/>
        </p:nvSpPr>
        <p:spPr>
          <a:xfrm>
            <a:off x="4815500" y="2547250"/>
            <a:ext cx="4453500" cy="195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These are functions that </a:t>
            </a:r>
            <a:r>
              <a:rPr lang="en" sz="1100">
                <a:solidFill>
                  <a:schemeClr val="dk1"/>
                </a:solidFill>
              </a:rPr>
              <a:t>perform</a:t>
            </a:r>
            <a:r>
              <a:rPr lang="en" sz="1100">
                <a:solidFill>
                  <a:schemeClr val="dk1"/>
                </a:solidFill>
              </a:rPr>
              <a:t> addition and subtraction. Functions make the code reusable, and they clearly separate each operation.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it Works</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chemeClr val="dk1"/>
              </a:buClr>
              <a:buSzPts val="1300"/>
              <a:buChar char="●"/>
            </a:pPr>
            <a:r>
              <a:rPr lang="en" sz="1300">
                <a:solidFill>
                  <a:schemeClr val="dk1"/>
                </a:solidFill>
              </a:rPr>
              <a:t>User selects operation from menu</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Enters 2 numbers</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Result is stored in history</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Undo removes last result</a:t>
            </a:r>
            <a:endParaRPr sz="1300">
              <a:solidFill>
                <a:schemeClr val="dk1"/>
              </a:solidFill>
            </a:endParaRPr>
          </a:p>
          <a:p>
            <a:pPr indent="0" lvl="0" marL="457200" rtl="0" algn="l">
              <a:spcBef>
                <a:spcPts val="0"/>
              </a:spcBef>
              <a:spcAft>
                <a:spcPts val="0"/>
              </a:spcAft>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Errors handled with try/except</a:t>
            </a:r>
            <a:endParaRPr sz="1300">
              <a:solidFill>
                <a:schemeClr val="dk1"/>
              </a:solidFill>
            </a:endParaRPr>
          </a:p>
          <a:p>
            <a:pPr indent="0" lvl="0" marL="457200" rtl="0" algn="l">
              <a:spcBef>
                <a:spcPts val="0"/>
              </a:spcBef>
              <a:spcAft>
                <a:spcPts val="1200"/>
              </a:spcAft>
              <a:buNone/>
            </a:pPr>
            <a:r>
              <a:t/>
            </a:r>
            <a:endParaRPr sz="1300">
              <a:solidFill>
                <a:schemeClr val="dk1"/>
              </a:solidFill>
            </a:endParaRPr>
          </a:p>
        </p:txBody>
      </p:sp>
      <p:pic>
        <p:nvPicPr>
          <p:cNvPr id="77" name="Google Shape;77;p16" title="Screenshot 2025-05-12 at 12.07.16 PM.png"/>
          <p:cNvPicPr preferRelativeResize="0"/>
          <p:nvPr/>
        </p:nvPicPr>
        <p:blipFill>
          <a:blip r:embed="rId3">
            <a:alphaModFix/>
          </a:blip>
          <a:stretch>
            <a:fillRect/>
          </a:stretch>
        </p:blipFill>
        <p:spPr>
          <a:xfrm>
            <a:off x="4083300" y="796525"/>
            <a:ext cx="5060700" cy="2503600"/>
          </a:xfrm>
          <a:prstGeom prst="rect">
            <a:avLst/>
          </a:prstGeom>
          <a:noFill/>
          <a:ln>
            <a:noFill/>
          </a:ln>
        </p:spPr>
      </p:pic>
      <p:sp>
        <p:nvSpPr>
          <p:cNvPr id="78" name="Google Shape;78;p16"/>
          <p:cNvSpPr txBox="1"/>
          <p:nvPr/>
        </p:nvSpPr>
        <p:spPr>
          <a:xfrm>
            <a:off x="4125450" y="3512075"/>
            <a:ext cx="5018700" cy="16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 the main menu shown to the user in a while loop. The loop keeps the program running until the user chooses Exit. </a:t>
            </a:r>
            <a:endParaRPr>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features </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Functions for operations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List to store history</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Loop + if/else for control</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Exception handling for safe input</a:t>
            </a:r>
            <a:endParaRPr sz="1100">
              <a:solidFill>
                <a:schemeClr val="dk1"/>
              </a:solidFill>
            </a:endParaRPr>
          </a:p>
          <a:p>
            <a:pPr indent="0" lvl="0" marL="457200" rtl="0" algn="l">
              <a:spcBef>
                <a:spcPts val="0"/>
              </a:spcBef>
              <a:spcAft>
                <a:spcPts val="1200"/>
              </a:spcAft>
              <a:buNone/>
            </a:pPr>
            <a:r>
              <a:t/>
            </a:r>
            <a:endParaRPr/>
          </a:p>
        </p:txBody>
      </p:sp>
      <p:pic>
        <p:nvPicPr>
          <p:cNvPr id="85" name="Google Shape;85;p17" title="Screenshot 2025-05-12 at 12.10.02 PM.png"/>
          <p:cNvPicPr preferRelativeResize="0"/>
          <p:nvPr/>
        </p:nvPicPr>
        <p:blipFill>
          <a:blip r:embed="rId3">
            <a:alphaModFix/>
          </a:blip>
          <a:stretch>
            <a:fillRect/>
          </a:stretch>
        </p:blipFill>
        <p:spPr>
          <a:xfrm>
            <a:off x="4440675" y="445025"/>
            <a:ext cx="4118551" cy="3083874"/>
          </a:xfrm>
          <a:prstGeom prst="rect">
            <a:avLst/>
          </a:prstGeom>
          <a:noFill/>
          <a:ln>
            <a:noFill/>
          </a:ln>
        </p:spPr>
      </p:pic>
      <p:sp>
        <p:nvSpPr>
          <p:cNvPr id="86" name="Google Shape;86;p17"/>
          <p:cNvSpPr txBox="1"/>
          <p:nvPr/>
        </p:nvSpPr>
        <p:spPr>
          <a:xfrm>
            <a:off x="4410925" y="3622900"/>
            <a:ext cx="4341600" cy="96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This code shows the logic of the calculator. The program takes two user inputs, performs the chosen calculation using functions, and prints the result. If the result is valid, it is stored in the history list for possible undoing later. </a:t>
            </a:r>
            <a:endParaRPr sz="12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92" name="Google Shape;9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Fully working calculator with Undo</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Clear, functional code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Used functions, lists, loops, error handling</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Learned skills for larger projects</a:t>
            </a:r>
            <a:endParaRPr sz="1100">
              <a:solidFill>
                <a:schemeClr val="dk1"/>
              </a:solidFill>
            </a:endParaRPr>
          </a:p>
          <a:p>
            <a:pPr indent="0" lvl="0" marL="0" rtl="0" algn="l">
              <a:spcBef>
                <a:spcPts val="0"/>
              </a:spcBef>
              <a:spcAft>
                <a:spcPts val="1200"/>
              </a:spcAft>
              <a:buNone/>
            </a:pPr>
            <a:r>
              <a:t/>
            </a:r>
            <a:endParaRPr/>
          </a:p>
        </p:txBody>
      </p:sp>
      <p:pic>
        <p:nvPicPr>
          <p:cNvPr id="93" name="Google Shape;93;p18" title="Screenshot 2025-05-12 at 12.17.11 PM.png"/>
          <p:cNvPicPr preferRelativeResize="0"/>
          <p:nvPr/>
        </p:nvPicPr>
        <p:blipFill>
          <a:blip r:embed="rId3">
            <a:alphaModFix/>
          </a:blip>
          <a:stretch>
            <a:fillRect/>
          </a:stretch>
        </p:blipFill>
        <p:spPr>
          <a:xfrm>
            <a:off x="3721900" y="2932200"/>
            <a:ext cx="5422101" cy="2211300"/>
          </a:xfrm>
          <a:prstGeom prst="rect">
            <a:avLst/>
          </a:prstGeom>
          <a:noFill/>
          <a:ln>
            <a:noFill/>
          </a:ln>
        </p:spPr>
      </p:pic>
      <p:sp>
        <p:nvSpPr>
          <p:cNvPr id="94" name="Google Shape;94;p18"/>
          <p:cNvSpPr txBox="1"/>
          <p:nvPr/>
        </p:nvSpPr>
        <p:spPr>
          <a:xfrm>
            <a:off x="4935250" y="1629525"/>
            <a:ext cx="3897000" cy="13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This part of the code show the division by </a:t>
            </a:r>
            <a:r>
              <a:rPr lang="en" sz="1800">
                <a:solidFill>
                  <a:schemeClr val="dk1"/>
                </a:solidFill>
              </a:rPr>
              <a:t>zero error when the user attempts to divide any number by zero</a:t>
            </a:r>
            <a:endParaRPr sz="1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